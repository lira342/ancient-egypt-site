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1" r:id="rId3"/>
    <p:sldId id="257" r:id="rId4"/>
    <p:sldId id="258" r:id="rId5"/>
    <p:sldId id="263"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8" d="100"/>
          <a:sy n="78" d="100"/>
        </p:scale>
        <p:origin x="604"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2B1176D-345A-4F74-886E-317C444F7FB8}" type="datetimeFigureOut">
              <a:rPr lang="en-GB" smtClean="0"/>
              <a:t>25/06/2026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1437907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B1176D-345A-4F74-886E-317C444F7FB8}" type="datetimeFigureOut">
              <a:rPr lang="en-GB" smtClean="0"/>
              <a:t>25/06/2026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88472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2B1176D-345A-4F74-886E-317C444F7FB8}" type="datetimeFigureOut">
              <a:rPr lang="en-GB" smtClean="0"/>
              <a:t>25/06/2026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412740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B1176D-345A-4F74-886E-317C444F7FB8}" type="datetimeFigureOut">
              <a:rPr lang="en-GB" smtClean="0"/>
              <a:t>25/06/2026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1003163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B1176D-345A-4F74-886E-317C444F7FB8}" type="datetimeFigureOut">
              <a:rPr lang="en-GB" smtClean="0"/>
              <a:t>25/06/2026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3319195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B1176D-345A-4F74-886E-317C444F7FB8}" type="datetimeFigureOut">
              <a:rPr lang="en-GB" smtClean="0"/>
              <a:t>25/06/2026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1467160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B1176D-345A-4F74-886E-317C444F7FB8}" type="datetimeFigureOut">
              <a:rPr lang="en-GB" smtClean="0"/>
              <a:t>25/06/2026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1247230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2B1176D-345A-4F74-886E-317C444F7FB8}" type="datetimeFigureOut">
              <a:rPr lang="en-GB" smtClean="0"/>
              <a:t>25/06/2026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2771018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2B1176D-345A-4F74-886E-317C444F7FB8}" type="datetimeFigureOut">
              <a:rPr lang="en-GB" smtClean="0"/>
              <a:t>25/06/2026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1568380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B1176D-345A-4F74-886E-317C444F7FB8}" type="datetimeFigureOut">
              <a:rPr lang="en-GB" smtClean="0"/>
              <a:t>25/06/2026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1337686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B1176D-345A-4F74-886E-317C444F7FB8}" type="datetimeFigureOut">
              <a:rPr lang="en-GB" smtClean="0"/>
              <a:t>25/06/2026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2723F28-69E9-4AD0-9F77-BF6A56735EDB}" type="slidenum">
              <a:rPr lang="en-GB" smtClean="0"/>
              <a:t>‹#›</a:t>
            </a:fld>
            <a:endParaRPr lang="en-GB"/>
          </a:p>
        </p:txBody>
      </p:sp>
    </p:spTree>
    <p:extLst>
      <p:ext uri="{BB962C8B-B14F-4D97-AF65-F5344CB8AC3E}">
        <p14:creationId xmlns:p14="http://schemas.microsoft.com/office/powerpoint/2010/main" val="1524343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B1176D-345A-4F74-886E-317C444F7FB8}" type="datetimeFigureOut">
              <a:rPr lang="en-GB" smtClean="0"/>
              <a:t>25/06/2026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723F28-69E9-4AD0-9F77-BF6A56735EDB}" type="slidenum">
              <a:rPr lang="en-GB" smtClean="0"/>
              <a:t>‹#›</a:t>
            </a:fld>
            <a:endParaRPr lang="en-GB"/>
          </a:p>
        </p:txBody>
      </p:sp>
    </p:spTree>
    <p:extLst>
      <p:ext uri="{BB962C8B-B14F-4D97-AF65-F5344CB8AC3E}">
        <p14:creationId xmlns:p14="http://schemas.microsoft.com/office/powerpoint/2010/main" val="3948739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482160-7C65-4409-A5DE-299F8733444A}"/>
              </a:ext>
            </a:extLst>
          </p:cNvPr>
          <p:cNvSpPr/>
          <p:nvPr/>
        </p:nvSpPr>
        <p:spPr>
          <a:xfrm>
            <a:off x="1310327" y="4249057"/>
            <a:ext cx="3638745" cy="2017485"/>
          </a:xfrm>
          <a:prstGeom prst="rect">
            <a:avLst/>
          </a:prstGeom>
          <a:solidFill>
            <a:schemeClr val="accent4">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Papyrus" panose="03070502060502030205" pitchFamily="66" charset="0"/>
              </a:rPr>
              <a:t>Colisiwe</a:t>
            </a:r>
            <a:endParaRPr lang="en-US" dirty="0">
              <a:solidFill>
                <a:schemeClr val="tx1"/>
              </a:solidFill>
              <a:latin typeface="Papyrus" panose="03070502060502030205" pitchFamily="66" charset="0"/>
            </a:endParaRPr>
          </a:p>
          <a:p>
            <a:pPr algn="ctr"/>
            <a:r>
              <a:rPr lang="en-US" dirty="0">
                <a:solidFill>
                  <a:schemeClr val="tx1"/>
                </a:solidFill>
                <a:latin typeface="Papyrus" panose="03070502060502030205" pitchFamily="66" charset="0"/>
              </a:rPr>
              <a:t>Lerato Diane</a:t>
            </a:r>
          </a:p>
          <a:p>
            <a:pPr algn="ctr"/>
            <a:r>
              <a:rPr lang="en-US" dirty="0">
                <a:solidFill>
                  <a:schemeClr val="tx1"/>
                </a:solidFill>
                <a:latin typeface="Papyrus" panose="03070502060502030205" pitchFamily="66" charset="0"/>
              </a:rPr>
              <a:t>Phenyo Phakedi</a:t>
            </a:r>
          </a:p>
          <a:p>
            <a:pPr algn="ctr"/>
            <a:r>
              <a:rPr lang="en-US" dirty="0">
                <a:solidFill>
                  <a:schemeClr val="tx1"/>
                </a:solidFill>
                <a:latin typeface="Papyrus" panose="03070502060502030205" pitchFamily="66" charset="0"/>
              </a:rPr>
              <a:t>Mfundo </a:t>
            </a:r>
            <a:r>
              <a:rPr lang="en-US" dirty="0" err="1">
                <a:solidFill>
                  <a:schemeClr val="tx1"/>
                </a:solidFill>
                <a:latin typeface="Papyrus" panose="03070502060502030205" pitchFamily="66" charset="0"/>
              </a:rPr>
              <a:t>Mncwabe</a:t>
            </a:r>
            <a:endParaRPr lang="en-US" dirty="0">
              <a:solidFill>
                <a:schemeClr val="tx1"/>
              </a:solidFill>
              <a:latin typeface="Papyrus" panose="03070502060502030205" pitchFamily="66" charset="0"/>
            </a:endParaRPr>
          </a:p>
        </p:txBody>
      </p:sp>
      <p:sp>
        <p:nvSpPr>
          <p:cNvPr id="6" name="TextBox 5">
            <a:extLst>
              <a:ext uri="{FF2B5EF4-FFF2-40B4-BE49-F238E27FC236}">
                <a16:creationId xmlns:a16="http://schemas.microsoft.com/office/drawing/2014/main" id="{58CC360F-B200-4213-874A-F09681B53544}"/>
              </a:ext>
            </a:extLst>
          </p:cNvPr>
          <p:cNvSpPr txBox="1"/>
          <p:nvPr/>
        </p:nvSpPr>
        <p:spPr>
          <a:xfrm>
            <a:off x="1221014" y="1443894"/>
            <a:ext cx="1672769" cy="1292662"/>
          </a:xfrm>
          <a:prstGeom prst="rect">
            <a:avLst/>
          </a:prstGeom>
          <a:noFill/>
        </p:spPr>
        <p:txBody>
          <a:bodyPr wrap="square" rtlCol="0">
            <a:spAutoFit/>
          </a:bodyPr>
          <a:lstStyle/>
          <a:p>
            <a:endParaRPr lang="en-GB" sz="6000" dirty="0">
              <a:solidFill>
                <a:schemeClr val="bg1"/>
              </a:solidFill>
            </a:endParaRPr>
          </a:p>
          <a:p>
            <a:endParaRPr lang="en-GB" dirty="0"/>
          </a:p>
        </p:txBody>
      </p:sp>
      <p:sp>
        <p:nvSpPr>
          <p:cNvPr id="3" name="Title 2">
            <a:extLst>
              <a:ext uri="{FF2B5EF4-FFF2-40B4-BE49-F238E27FC236}">
                <a16:creationId xmlns:a16="http://schemas.microsoft.com/office/drawing/2014/main" id="{2CE2581B-E150-49C0-B21F-3D321F2929A6}"/>
              </a:ext>
            </a:extLst>
          </p:cNvPr>
          <p:cNvSpPr>
            <a:spLocks noGrp="1"/>
          </p:cNvSpPr>
          <p:nvPr>
            <p:ph type="ctrTitle"/>
          </p:nvPr>
        </p:nvSpPr>
        <p:spPr>
          <a:xfrm rot="5400000">
            <a:off x="6978069" y="3298474"/>
            <a:ext cx="7202078" cy="605129"/>
          </a:xfrm>
        </p:spPr>
        <p:txBody>
          <a:bodyPr>
            <a:normAutofit fontScale="90000"/>
          </a:bodyPr>
          <a:lstStyle/>
          <a:p>
            <a:r>
              <a:rPr lang="en-US" dirty="0">
                <a:latin typeface="Ancient Egyptian Hieroglyphs" pitchFamily="50" charset="0"/>
              </a:rPr>
              <a:t>ANCIENT EGYPT</a:t>
            </a:r>
            <a:endParaRPr lang="en-GB" dirty="0">
              <a:latin typeface="Ancient Egyptian Hieroglyphs" pitchFamily="50" charset="0"/>
            </a:endParaRPr>
          </a:p>
        </p:txBody>
      </p:sp>
      <p:sp>
        <p:nvSpPr>
          <p:cNvPr id="7" name="Subtitle 6">
            <a:extLst>
              <a:ext uri="{FF2B5EF4-FFF2-40B4-BE49-F238E27FC236}">
                <a16:creationId xmlns:a16="http://schemas.microsoft.com/office/drawing/2014/main" id="{DDF20FAD-D9BF-4ED9-A59B-604ADAB32089}"/>
              </a:ext>
            </a:extLst>
          </p:cNvPr>
          <p:cNvSpPr>
            <a:spLocks noGrp="1"/>
          </p:cNvSpPr>
          <p:nvPr>
            <p:ph type="subTitle" idx="1"/>
          </p:nvPr>
        </p:nvSpPr>
        <p:spPr>
          <a:xfrm>
            <a:off x="1524001" y="2385980"/>
            <a:ext cx="9144000" cy="1655762"/>
          </a:xfrm>
        </p:spPr>
        <p:txBody>
          <a:bodyPr/>
          <a:lstStyle/>
          <a:p>
            <a:r>
              <a:rPr lang="en-US" sz="6600" dirty="0">
                <a:latin typeface="Papyrus" panose="03070502060502030205" pitchFamily="66" charset="0"/>
              </a:rPr>
              <a:t>Ancient Egypt</a:t>
            </a:r>
          </a:p>
          <a:p>
            <a:r>
              <a:rPr lang="en-US" dirty="0">
                <a:latin typeface="Papyrus" panose="03070502060502030205" pitchFamily="66" charset="0"/>
              </a:rPr>
              <a:t>Group Activity</a:t>
            </a:r>
            <a:endParaRPr lang="en-GB" dirty="0">
              <a:latin typeface="Papyrus" panose="03070502060502030205" pitchFamily="66" charset="0"/>
            </a:endParaRPr>
          </a:p>
        </p:txBody>
      </p:sp>
      <p:cxnSp>
        <p:nvCxnSpPr>
          <p:cNvPr id="10" name="Straight Connector 9">
            <a:extLst>
              <a:ext uri="{FF2B5EF4-FFF2-40B4-BE49-F238E27FC236}">
                <a16:creationId xmlns:a16="http://schemas.microsoft.com/office/drawing/2014/main" id="{BA420D07-3BBD-4F6A-A002-B65E95227A59}"/>
              </a:ext>
            </a:extLst>
          </p:cNvPr>
          <p:cNvCxnSpPr/>
          <p:nvPr/>
        </p:nvCxnSpPr>
        <p:spPr>
          <a:xfrm>
            <a:off x="9653047" y="0"/>
            <a:ext cx="0" cy="6858000"/>
          </a:xfrm>
          <a:prstGeom prst="line">
            <a:avLst/>
          </a:prstGeom>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242262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EEC036E-1365-4A01-8BC4-F6E214545E51}"/>
              </a:ext>
            </a:extLst>
          </p:cNvPr>
          <p:cNvSpPr/>
          <p:nvPr/>
        </p:nvSpPr>
        <p:spPr>
          <a:xfrm>
            <a:off x="0" y="-78589"/>
            <a:ext cx="12192000" cy="1624585"/>
          </a:xfrm>
          <a:prstGeom prst="rect">
            <a:avLst/>
          </a:prstGeom>
          <a:solidFill>
            <a:schemeClr val="accent4">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solidFill>
                  <a:schemeClr val="tx1"/>
                </a:solidFill>
                <a:latin typeface="Papyrus" panose="03070502060502030205" pitchFamily="66" charset="0"/>
              </a:rPr>
              <a:t>		Brief</a:t>
            </a:r>
            <a:endParaRPr lang="en-GB" sz="3600" dirty="0">
              <a:solidFill>
                <a:schemeClr val="tx1"/>
              </a:solidFill>
              <a:latin typeface="Papyrus" panose="03070502060502030205" pitchFamily="66" charset="0"/>
            </a:endParaRPr>
          </a:p>
        </p:txBody>
      </p:sp>
      <p:sp>
        <p:nvSpPr>
          <p:cNvPr id="3" name="Content Placeholder 2">
            <a:extLst>
              <a:ext uri="{FF2B5EF4-FFF2-40B4-BE49-F238E27FC236}">
                <a16:creationId xmlns:a16="http://schemas.microsoft.com/office/drawing/2014/main" id="{CBB24045-4BDB-4E19-A4B4-0ED6090A385D}"/>
              </a:ext>
            </a:extLst>
          </p:cNvPr>
          <p:cNvSpPr>
            <a:spLocks noGrp="1"/>
          </p:cNvSpPr>
          <p:nvPr>
            <p:ph sz="half" idx="1"/>
          </p:nvPr>
        </p:nvSpPr>
        <p:spPr/>
        <p:txBody>
          <a:bodyPr>
            <a:normAutofit fontScale="92500" lnSpcReduction="10000"/>
          </a:bodyPr>
          <a:lstStyle/>
          <a:p>
            <a:r>
              <a:rPr lang="en-GB" b="1" dirty="0">
                <a:latin typeface="Calibri" panose="020F0502020204030204" pitchFamily="34" charset="0"/>
                <a:ea typeface="Calibri" panose="020F0502020204030204" pitchFamily="34" charset="0"/>
                <a:cs typeface="Calibri" panose="020F0502020204030204" pitchFamily="34" charset="0"/>
              </a:rPr>
              <a:t>Assessment Task | Part 2 </a:t>
            </a:r>
            <a:endParaRPr lang="en-GB" dirty="0">
              <a:latin typeface="Calibri" panose="020F0502020204030204" pitchFamily="34" charset="0"/>
              <a:ea typeface="Calibri" panose="020F0502020204030204" pitchFamily="34" charset="0"/>
              <a:cs typeface="Calibri" panose="020F0502020204030204" pitchFamily="34" charset="0"/>
            </a:endParaRPr>
          </a:p>
          <a:p>
            <a:r>
              <a:rPr lang="en-GB" sz="2400" b="1" dirty="0">
                <a:latin typeface="Calibri" panose="020F0502020204030204" pitchFamily="34" charset="0"/>
                <a:ea typeface="Calibri" panose="020F0502020204030204" pitchFamily="34" charset="0"/>
                <a:cs typeface="Calibri" panose="020F0502020204030204" pitchFamily="34" charset="0"/>
              </a:rPr>
              <a:t>2D.AN: </a:t>
            </a:r>
            <a:r>
              <a:rPr lang="en-GB" sz="2400" dirty="0">
                <a:latin typeface="Calibri" panose="020F0502020204030204" pitchFamily="34" charset="0"/>
                <a:ea typeface="Calibri" panose="020F0502020204030204" pitchFamily="34" charset="0"/>
                <a:cs typeface="Calibri" panose="020F0502020204030204" pitchFamily="34" charset="0"/>
              </a:rPr>
              <a:t>Design the character of Rameses and design him a Throne Room</a:t>
            </a:r>
          </a:p>
          <a:p>
            <a:r>
              <a:rPr lang="en-GB" sz="2400" b="1" dirty="0">
                <a:latin typeface="Calibri" panose="020F0502020204030204" pitchFamily="34" charset="0"/>
                <a:ea typeface="Calibri" panose="020F0502020204030204" pitchFamily="34" charset="0"/>
                <a:cs typeface="Calibri" panose="020F0502020204030204" pitchFamily="34" charset="0"/>
              </a:rPr>
              <a:t>GD.FD: </a:t>
            </a:r>
            <a:r>
              <a:rPr lang="en-GB" sz="2400" dirty="0">
                <a:latin typeface="Calibri" panose="020F0502020204030204" pitchFamily="34" charset="0"/>
                <a:ea typeface="Calibri" panose="020F0502020204030204" pitchFamily="34" charset="0"/>
                <a:cs typeface="Calibri" panose="020F0502020204030204" pitchFamily="34" charset="0"/>
              </a:rPr>
              <a:t>Design a book cover for the Encyclopaedia of Ancient Egypt, and a series poster art (minimum 3) promoting the launch of the latest version of the book</a:t>
            </a:r>
          </a:p>
          <a:p>
            <a:r>
              <a:rPr lang="en-GB" sz="2400" dirty="0">
                <a:latin typeface="Calibri" panose="020F0502020204030204" pitchFamily="34" charset="0"/>
                <a:ea typeface="Calibri" panose="020F0502020204030204" pitchFamily="34" charset="0"/>
                <a:cs typeface="Calibri" panose="020F0502020204030204" pitchFamily="34" charset="0"/>
              </a:rPr>
              <a:t>Front cover, book cover, and spine design. </a:t>
            </a:r>
          </a:p>
          <a:p>
            <a:r>
              <a:rPr lang="en-GB" sz="2400" dirty="0">
                <a:latin typeface="Calibri" panose="020F0502020204030204" pitchFamily="34" charset="0"/>
                <a:ea typeface="Calibri" panose="020F0502020204030204" pitchFamily="34" charset="0"/>
                <a:cs typeface="Calibri" panose="020F0502020204030204" pitchFamily="34" charset="0"/>
              </a:rPr>
              <a:t>The poster</a:t>
            </a:r>
            <a:endParaRPr lang="en-GB" sz="2400" dirty="0"/>
          </a:p>
        </p:txBody>
      </p:sp>
      <p:sp>
        <p:nvSpPr>
          <p:cNvPr id="4" name="Content Placeholder 3">
            <a:extLst>
              <a:ext uri="{FF2B5EF4-FFF2-40B4-BE49-F238E27FC236}">
                <a16:creationId xmlns:a16="http://schemas.microsoft.com/office/drawing/2014/main" id="{C1F86A76-ED46-4C55-8F59-50EEE76AEBE2}"/>
              </a:ext>
            </a:extLst>
          </p:cNvPr>
          <p:cNvSpPr>
            <a:spLocks noGrp="1"/>
          </p:cNvSpPr>
          <p:nvPr>
            <p:ph sz="half" idx="2"/>
          </p:nvPr>
        </p:nvSpPr>
        <p:spPr/>
        <p:txBody>
          <a:bodyPr>
            <a:normAutofit fontScale="92500" lnSpcReduction="10000"/>
          </a:bodyPr>
          <a:lstStyle/>
          <a:p>
            <a:r>
              <a:rPr lang="en-GB" b="1" dirty="0">
                <a:latin typeface="Calibri" panose="020F0502020204030204" pitchFamily="34" charset="0"/>
                <a:ea typeface="Calibri" panose="020F0502020204030204" pitchFamily="34" charset="0"/>
                <a:cs typeface="Calibri" panose="020F0502020204030204" pitchFamily="34" charset="0"/>
              </a:rPr>
              <a:t>INT.MD: </a:t>
            </a:r>
            <a:r>
              <a:rPr lang="en-GB" sz="2400" dirty="0">
                <a:latin typeface="Calibri" panose="020F0502020204030204" pitchFamily="34" charset="0"/>
                <a:ea typeface="Calibri" panose="020F0502020204030204" pitchFamily="34" charset="0"/>
                <a:cs typeface="Calibri" panose="020F0502020204030204" pitchFamily="34" charset="0"/>
              </a:rPr>
              <a:t>Design a 3-5 page micro-site for the launch. You may use your own images, as well as images provided by the animators and designers. We should be able to navigate your site. Please include the following pages: </a:t>
            </a:r>
          </a:p>
          <a:p>
            <a:r>
              <a:rPr lang="en-GB" sz="2400" dirty="0">
                <a:latin typeface="Calibri" panose="020F0502020204030204" pitchFamily="34" charset="0"/>
                <a:ea typeface="Calibri" panose="020F0502020204030204" pitchFamily="34" charset="0"/>
                <a:cs typeface="Calibri" panose="020F0502020204030204" pitchFamily="34" charset="0"/>
              </a:rPr>
              <a:t>A Rameses character, </a:t>
            </a:r>
          </a:p>
          <a:p>
            <a:r>
              <a:rPr lang="en-GB" sz="2400" dirty="0">
                <a:latin typeface="Calibri" panose="020F0502020204030204" pitchFamily="34" charset="0"/>
                <a:ea typeface="Calibri" panose="020F0502020204030204" pitchFamily="34" charset="0"/>
                <a:cs typeface="Calibri" panose="020F0502020204030204" pitchFamily="34" charset="0"/>
              </a:rPr>
              <a:t>A Rameses throne room, </a:t>
            </a:r>
          </a:p>
          <a:p>
            <a:r>
              <a:rPr lang="en-GB" sz="2400" dirty="0">
                <a:latin typeface="Calibri" panose="020F0502020204030204" pitchFamily="34" charset="0"/>
                <a:ea typeface="Calibri" panose="020F0502020204030204" pitchFamily="34" charset="0"/>
                <a:cs typeface="Calibri" panose="020F0502020204030204" pitchFamily="34" charset="0"/>
              </a:rPr>
              <a:t>A background design, </a:t>
            </a:r>
          </a:p>
          <a:p>
            <a:r>
              <a:rPr lang="en-GB" sz="2400" dirty="0">
                <a:latin typeface="Calibri" panose="020F0502020204030204" pitchFamily="34" charset="0"/>
                <a:ea typeface="Calibri" panose="020F0502020204030204" pitchFamily="34" charset="0"/>
                <a:cs typeface="Calibri" panose="020F0502020204030204" pitchFamily="34" charset="0"/>
              </a:rPr>
              <a:t>a book cover for the Encyclopaedia of Ancient Egypt, </a:t>
            </a:r>
          </a:p>
          <a:p>
            <a:r>
              <a:rPr lang="en-GB" sz="2400" dirty="0">
                <a:latin typeface="Calibri" panose="020F0502020204030204" pitchFamily="34" charset="0"/>
                <a:ea typeface="Calibri" panose="020F0502020204030204" pitchFamily="34" charset="0"/>
                <a:cs typeface="Calibri" panose="020F0502020204030204" pitchFamily="34" charset="0"/>
              </a:rPr>
              <a:t>a poster series promoting the launch of the book </a:t>
            </a:r>
          </a:p>
          <a:p>
            <a:endParaRPr lang="en-GB" dirty="0"/>
          </a:p>
        </p:txBody>
      </p:sp>
    </p:spTree>
    <p:extLst>
      <p:ext uri="{BB962C8B-B14F-4D97-AF65-F5344CB8AC3E}">
        <p14:creationId xmlns:p14="http://schemas.microsoft.com/office/powerpoint/2010/main" val="57764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80D73CB-937A-4E66-A81A-3A9CE7F1F3C2}"/>
              </a:ext>
            </a:extLst>
          </p:cNvPr>
          <p:cNvSpPr/>
          <p:nvPr/>
        </p:nvSpPr>
        <p:spPr>
          <a:xfrm>
            <a:off x="6205285" y="0"/>
            <a:ext cx="598671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TextBox 15">
            <a:extLst>
              <a:ext uri="{FF2B5EF4-FFF2-40B4-BE49-F238E27FC236}">
                <a16:creationId xmlns:a16="http://schemas.microsoft.com/office/drawing/2014/main" id="{2E9FCB8A-20F0-4812-94FE-9834D5DF1315}"/>
              </a:ext>
            </a:extLst>
          </p:cNvPr>
          <p:cNvSpPr txBox="1"/>
          <p:nvPr/>
        </p:nvSpPr>
        <p:spPr>
          <a:xfrm>
            <a:off x="6620755" y="863323"/>
            <a:ext cx="4106938" cy="738664"/>
          </a:xfrm>
          <a:prstGeom prst="rect">
            <a:avLst/>
          </a:prstGeom>
          <a:noFill/>
        </p:spPr>
        <p:txBody>
          <a:bodyPr wrap="square" rtlCol="0">
            <a:spAutoFit/>
          </a:bodyPr>
          <a:lstStyle/>
          <a:p>
            <a:r>
              <a:rPr lang="en-GB" sz="2400" dirty="0">
                <a:solidFill>
                  <a:schemeClr val="bg1"/>
                </a:solidFill>
              </a:rPr>
              <a:t>Text placeholder</a:t>
            </a:r>
            <a:endParaRPr lang="en-GB" dirty="0">
              <a:solidFill>
                <a:schemeClr val="bg1"/>
              </a:solidFill>
            </a:endParaRPr>
          </a:p>
          <a:p>
            <a:endParaRPr lang="en-GB" dirty="0"/>
          </a:p>
        </p:txBody>
      </p:sp>
      <p:sp>
        <p:nvSpPr>
          <p:cNvPr id="4" name="Title 3">
            <a:extLst>
              <a:ext uri="{FF2B5EF4-FFF2-40B4-BE49-F238E27FC236}">
                <a16:creationId xmlns:a16="http://schemas.microsoft.com/office/drawing/2014/main" id="{DBDD0EA9-F5C6-4D6B-BCA5-E4B28479199F}"/>
              </a:ext>
            </a:extLst>
          </p:cNvPr>
          <p:cNvSpPr>
            <a:spLocks noGrp="1"/>
          </p:cNvSpPr>
          <p:nvPr>
            <p:ph type="title"/>
          </p:nvPr>
        </p:nvSpPr>
        <p:spPr>
          <a:xfrm>
            <a:off x="838200" y="365125"/>
            <a:ext cx="5181600" cy="1325563"/>
          </a:xfrm>
        </p:spPr>
        <p:txBody>
          <a:bodyPr/>
          <a:lstStyle/>
          <a:p>
            <a:r>
              <a:rPr lang="en-US" dirty="0">
                <a:latin typeface="Papyrus" panose="03070502060502030205" pitchFamily="66" charset="0"/>
              </a:rPr>
              <a:t>Research</a:t>
            </a:r>
            <a:endParaRPr lang="en-GB" dirty="0">
              <a:latin typeface="Papyrus" panose="03070502060502030205" pitchFamily="66" charset="0"/>
            </a:endParaRPr>
          </a:p>
        </p:txBody>
      </p:sp>
      <p:sp>
        <p:nvSpPr>
          <p:cNvPr id="5" name="Content Placeholder 4">
            <a:extLst>
              <a:ext uri="{FF2B5EF4-FFF2-40B4-BE49-F238E27FC236}">
                <a16:creationId xmlns:a16="http://schemas.microsoft.com/office/drawing/2014/main" id="{91EC62E6-EDEF-4319-8EB8-E40C4C0451B2}"/>
              </a:ext>
            </a:extLst>
          </p:cNvPr>
          <p:cNvSpPr>
            <a:spLocks noGrp="1"/>
          </p:cNvSpPr>
          <p:nvPr>
            <p:ph sz="half" idx="1"/>
          </p:nvPr>
        </p:nvSpPr>
        <p:spPr/>
        <p:txBody>
          <a:bodyPr/>
          <a:lstStyle/>
          <a:p>
            <a:pPr marL="0" indent="0">
              <a:buNone/>
            </a:pPr>
            <a:endParaRPr lang="en-US" dirty="0"/>
          </a:p>
        </p:txBody>
      </p:sp>
    </p:spTree>
    <p:extLst>
      <p:ext uri="{BB962C8B-B14F-4D97-AF65-F5344CB8AC3E}">
        <p14:creationId xmlns:p14="http://schemas.microsoft.com/office/powerpoint/2010/main" val="2437043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9B0C-555E-450C-853B-22BC56C6883B}"/>
              </a:ext>
            </a:extLst>
          </p:cNvPr>
          <p:cNvSpPr>
            <a:spLocks noGrp="1"/>
          </p:cNvSpPr>
          <p:nvPr>
            <p:ph type="title"/>
          </p:nvPr>
        </p:nvSpPr>
        <p:spPr/>
        <p:txBody>
          <a:bodyPr>
            <a:normAutofit/>
          </a:bodyPr>
          <a:lstStyle/>
          <a:p>
            <a:r>
              <a:rPr lang="en-GB" dirty="0"/>
              <a:t>Lifestyle</a:t>
            </a:r>
            <a:br>
              <a:rPr lang="en-GB" dirty="0"/>
            </a:br>
            <a:endParaRPr lang="en-GB" dirty="0"/>
          </a:p>
        </p:txBody>
      </p:sp>
      <p:sp>
        <p:nvSpPr>
          <p:cNvPr id="5" name="Rectangle 4">
            <a:extLst>
              <a:ext uri="{FF2B5EF4-FFF2-40B4-BE49-F238E27FC236}">
                <a16:creationId xmlns:a16="http://schemas.microsoft.com/office/drawing/2014/main" id="{C24631F5-6EAB-4AD9-8223-729FA08E7B7C}"/>
              </a:ext>
            </a:extLst>
          </p:cNvPr>
          <p:cNvSpPr/>
          <p:nvPr/>
        </p:nvSpPr>
        <p:spPr>
          <a:xfrm>
            <a:off x="0" y="1413932"/>
            <a:ext cx="6096000" cy="5444068"/>
          </a:xfrm>
          <a:prstGeom prst="rect">
            <a:avLst/>
          </a:prstGeom>
          <a:solidFill>
            <a:schemeClr val="accent4">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pic>
        <p:nvPicPr>
          <p:cNvPr id="9" name="Content Placeholder 3">
            <a:extLst>
              <a:ext uri="{FF2B5EF4-FFF2-40B4-BE49-F238E27FC236}">
                <a16:creationId xmlns:a16="http://schemas.microsoft.com/office/drawing/2014/main" id="{AC821E25-CFD5-4B89-85FE-3E58E6C8361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507" r="14436"/>
          <a:stretch/>
        </p:blipFill>
        <p:spPr>
          <a:xfrm>
            <a:off x="6096000" y="0"/>
            <a:ext cx="6096000" cy="4351338"/>
          </a:xfrm>
          <a:prstGeom prst="rect">
            <a:avLst/>
          </a:prstGeom>
        </p:spPr>
      </p:pic>
      <p:sp>
        <p:nvSpPr>
          <p:cNvPr id="10" name="TextBox 9">
            <a:extLst>
              <a:ext uri="{FF2B5EF4-FFF2-40B4-BE49-F238E27FC236}">
                <a16:creationId xmlns:a16="http://schemas.microsoft.com/office/drawing/2014/main" id="{A6BF2691-54E3-43DC-BABA-0A9581168AF1}"/>
              </a:ext>
            </a:extLst>
          </p:cNvPr>
          <p:cNvSpPr txBox="1"/>
          <p:nvPr/>
        </p:nvSpPr>
        <p:spPr>
          <a:xfrm>
            <a:off x="556181" y="2506662"/>
            <a:ext cx="4949073" cy="3539430"/>
          </a:xfrm>
          <a:prstGeom prst="rect">
            <a:avLst/>
          </a:prstGeom>
          <a:noFill/>
        </p:spPr>
        <p:txBody>
          <a:bodyPr wrap="square" rtlCol="0">
            <a:spAutoFit/>
          </a:bodyPr>
          <a:lstStyle/>
          <a:p>
            <a:r>
              <a:rPr lang="en-GB" sz="1600" dirty="0">
                <a:solidFill>
                  <a:schemeClr val="bg1"/>
                </a:solidFill>
                <a:latin typeface="Bahnschrift SemiLight" panose="020B0502040204020203" pitchFamily="34" charset="0"/>
              </a:rPr>
              <a:t>All of Egypt was subjugated under one ruler, the </a:t>
            </a:r>
            <a:r>
              <a:rPr lang="en-GB" sz="1600" dirty="0" err="1">
                <a:solidFill>
                  <a:schemeClr val="bg1"/>
                </a:solidFill>
                <a:latin typeface="Bahnschrift SemiLight" panose="020B0502040204020203" pitchFamily="34" charset="0"/>
              </a:rPr>
              <a:t>Pharoah</a:t>
            </a:r>
            <a:r>
              <a:rPr lang="en-GB" sz="1600" dirty="0">
                <a:solidFill>
                  <a:schemeClr val="bg1"/>
                </a:solidFill>
                <a:latin typeface="Bahnschrift SemiLight" panose="020B0502040204020203" pitchFamily="34" charset="0"/>
              </a:rPr>
              <a:t>, who was god, king and high priest all rolled into one. </a:t>
            </a:r>
          </a:p>
          <a:p>
            <a:r>
              <a:rPr lang="en-GB" sz="1600" dirty="0">
                <a:solidFill>
                  <a:schemeClr val="bg1"/>
                </a:solidFill>
                <a:latin typeface="Bahnschrift SemiLight" panose="020B0502040204020203" pitchFamily="34" charset="0"/>
              </a:rPr>
              <a:t>The triangular shape of pyramids that were built, show the hierarchy and control of one over many.</a:t>
            </a:r>
          </a:p>
          <a:p>
            <a:r>
              <a:rPr lang="en-GB" sz="1600" dirty="0">
                <a:solidFill>
                  <a:schemeClr val="bg1"/>
                </a:solidFill>
                <a:latin typeface="Bahnschrift SemiLight" panose="020B0502040204020203" pitchFamily="34" charset="0"/>
              </a:rPr>
              <a:t>Most people in ancient Egypt were farmers. They lived with their families in houses made of mud bricks that were near the Nile River.</a:t>
            </a:r>
          </a:p>
          <a:p>
            <a:r>
              <a:rPr lang="en-GB" sz="1600" dirty="0">
                <a:solidFill>
                  <a:schemeClr val="bg1"/>
                </a:solidFill>
                <a:latin typeface="Bahnschrift SemiLight" panose="020B0502040204020203" pitchFamily="34" charset="0"/>
              </a:rPr>
              <a:t>The Nile flooded each year, leaving behind fertile soil for planting crops like wheat, barley, lettuce, flax, and papyrus. As the Egyptians learned how to move river water to their fields, they were able to grow more food, including grapes, apricots, olives, and beans.</a:t>
            </a:r>
          </a:p>
        </p:txBody>
      </p:sp>
      <p:pic>
        <p:nvPicPr>
          <p:cNvPr id="12" name="Picture 11">
            <a:extLst>
              <a:ext uri="{FF2B5EF4-FFF2-40B4-BE49-F238E27FC236}">
                <a16:creationId xmlns:a16="http://schemas.microsoft.com/office/drawing/2014/main" id="{9DA5493B-1598-4434-99E4-094C00CB767B}"/>
              </a:ext>
            </a:extLst>
          </p:cNvPr>
          <p:cNvPicPr>
            <a:picLocks noChangeAspect="1"/>
          </p:cNvPicPr>
          <p:nvPr/>
        </p:nvPicPr>
        <p:blipFill rotWithShape="1">
          <a:blip r:embed="rId3">
            <a:extLst>
              <a:ext uri="{28A0092B-C50C-407E-A947-70E740481C1C}">
                <a14:useLocalDpi xmlns:a14="http://schemas.microsoft.com/office/drawing/2010/main" val="0"/>
              </a:ext>
            </a:extLst>
          </a:blip>
          <a:srcRect l="564" t="24260" r="-1"/>
          <a:stretch/>
        </p:blipFill>
        <p:spPr>
          <a:xfrm>
            <a:off x="6096000" y="3770722"/>
            <a:ext cx="6096000" cy="3087278"/>
          </a:xfrm>
          <a:prstGeom prst="rect">
            <a:avLst/>
          </a:prstGeom>
        </p:spPr>
      </p:pic>
    </p:spTree>
    <p:extLst>
      <p:ext uri="{BB962C8B-B14F-4D97-AF65-F5344CB8AC3E}">
        <p14:creationId xmlns:p14="http://schemas.microsoft.com/office/powerpoint/2010/main" val="3831530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6CD4DB-1F73-49B2-964A-9C6EA774BD24}"/>
              </a:ext>
            </a:extLst>
          </p:cNvPr>
          <p:cNvSpPr/>
          <p:nvPr/>
        </p:nvSpPr>
        <p:spPr>
          <a:xfrm>
            <a:off x="0" y="0"/>
            <a:ext cx="12192000" cy="6858000"/>
          </a:xfrm>
          <a:prstGeom prst="rect">
            <a:avLst/>
          </a:prstGeom>
          <a:solidFill>
            <a:schemeClr val="accent4">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 name="TextBox 2">
            <a:extLst>
              <a:ext uri="{FF2B5EF4-FFF2-40B4-BE49-F238E27FC236}">
                <a16:creationId xmlns:a16="http://schemas.microsoft.com/office/drawing/2014/main" id="{436E41A3-4D69-49DB-A68B-82FFB6287E8B}"/>
              </a:ext>
            </a:extLst>
          </p:cNvPr>
          <p:cNvSpPr txBox="1"/>
          <p:nvPr/>
        </p:nvSpPr>
        <p:spPr>
          <a:xfrm>
            <a:off x="942680" y="2017336"/>
            <a:ext cx="4308050" cy="1477328"/>
          </a:xfrm>
          <a:prstGeom prst="rect">
            <a:avLst/>
          </a:prstGeom>
          <a:noFill/>
        </p:spPr>
        <p:txBody>
          <a:bodyPr wrap="square" rtlCol="0">
            <a:spAutoFit/>
          </a:bodyPr>
          <a:lstStyle/>
          <a:p>
            <a:r>
              <a:rPr lang="en-GB" dirty="0">
                <a:solidFill>
                  <a:schemeClr val="bg1"/>
                </a:solidFill>
              </a:rPr>
              <a:t>The king was god on earth in the form of man, and no distinction was made between god and king. It was because of this that the ancient Egyptian belief system created and supported the political and social hierarchy.</a:t>
            </a:r>
          </a:p>
        </p:txBody>
      </p:sp>
      <p:sp>
        <p:nvSpPr>
          <p:cNvPr id="4" name="TextBox 3">
            <a:extLst>
              <a:ext uri="{FF2B5EF4-FFF2-40B4-BE49-F238E27FC236}">
                <a16:creationId xmlns:a16="http://schemas.microsoft.com/office/drawing/2014/main" id="{F2FD5074-3CF5-4A7C-B4D7-E35B1F0ACA9D}"/>
              </a:ext>
            </a:extLst>
          </p:cNvPr>
          <p:cNvSpPr txBox="1"/>
          <p:nvPr/>
        </p:nvSpPr>
        <p:spPr>
          <a:xfrm>
            <a:off x="5788058" y="2017336"/>
            <a:ext cx="4308050" cy="1200329"/>
          </a:xfrm>
          <a:prstGeom prst="rect">
            <a:avLst/>
          </a:prstGeom>
          <a:noFill/>
        </p:spPr>
        <p:txBody>
          <a:bodyPr wrap="square" rtlCol="0">
            <a:spAutoFit/>
          </a:bodyPr>
          <a:lstStyle/>
          <a:p>
            <a:r>
              <a:rPr lang="en-GB" dirty="0">
                <a:solidFill>
                  <a:schemeClr val="bg1"/>
                </a:solidFill>
              </a:rPr>
              <a:t>The king was known as a pharaoh. He was the most powerful person in ancient Egypt. The pharaoh was the political and religious leader of the ancient Egyptian people.</a:t>
            </a:r>
          </a:p>
        </p:txBody>
      </p:sp>
      <p:sp>
        <p:nvSpPr>
          <p:cNvPr id="5" name="TextBox 4">
            <a:extLst>
              <a:ext uri="{FF2B5EF4-FFF2-40B4-BE49-F238E27FC236}">
                <a16:creationId xmlns:a16="http://schemas.microsoft.com/office/drawing/2014/main" id="{CA7D4430-3B52-4ACB-AD80-A3D4D91A2105}"/>
              </a:ext>
            </a:extLst>
          </p:cNvPr>
          <p:cNvSpPr txBox="1"/>
          <p:nvPr/>
        </p:nvSpPr>
        <p:spPr>
          <a:xfrm>
            <a:off x="1234911" y="4359972"/>
            <a:ext cx="4015819" cy="2031325"/>
          </a:xfrm>
          <a:prstGeom prst="rect">
            <a:avLst/>
          </a:prstGeom>
          <a:noFill/>
        </p:spPr>
        <p:txBody>
          <a:bodyPr wrap="square" rtlCol="0">
            <a:spAutoFit/>
          </a:bodyPr>
          <a:lstStyle/>
          <a:p>
            <a:r>
              <a:rPr lang="en-GB">
                <a:solidFill>
                  <a:schemeClr val="bg1"/>
                </a:solidFill>
              </a:rPr>
              <a:t>When the ancient Egyptians started trading, they needed to keep record of what they bought and sold. This led to the development of their alphabet. At first they used picture writing called hieroglyphics where each picture stood for a sound</a:t>
            </a:r>
            <a:endParaRPr lang="en-GB" dirty="0">
              <a:solidFill>
                <a:schemeClr val="bg1"/>
              </a:solidFill>
            </a:endParaRPr>
          </a:p>
        </p:txBody>
      </p:sp>
    </p:spTree>
    <p:extLst>
      <p:ext uri="{BB962C8B-B14F-4D97-AF65-F5344CB8AC3E}">
        <p14:creationId xmlns:p14="http://schemas.microsoft.com/office/powerpoint/2010/main" val="3574635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EFCC8-D609-4276-8E3F-C5206C5E008F}"/>
              </a:ext>
            </a:extLst>
          </p:cNvPr>
          <p:cNvSpPr>
            <a:spLocks noGrp="1"/>
          </p:cNvSpPr>
          <p:nvPr>
            <p:ph type="title"/>
          </p:nvPr>
        </p:nvSpPr>
        <p:spPr/>
        <p:txBody>
          <a:bodyPr/>
          <a:lstStyle/>
          <a:p>
            <a:r>
              <a:rPr lang="en-US" dirty="0"/>
              <a:t>Bibliography</a:t>
            </a:r>
            <a:endParaRPr lang="en-GB" dirty="0"/>
          </a:p>
        </p:txBody>
      </p:sp>
      <p:graphicFrame>
        <p:nvGraphicFramePr>
          <p:cNvPr id="4" name="Content Placeholder 3">
            <a:extLst>
              <a:ext uri="{FF2B5EF4-FFF2-40B4-BE49-F238E27FC236}">
                <a16:creationId xmlns:a16="http://schemas.microsoft.com/office/drawing/2014/main" id="{C38777F5-15D1-4459-B775-C3D1153B65C4}"/>
              </a:ext>
            </a:extLst>
          </p:cNvPr>
          <p:cNvGraphicFramePr>
            <a:graphicFrameLocks noGrp="1"/>
          </p:cNvGraphicFramePr>
          <p:nvPr>
            <p:ph idx="1"/>
            <p:extLst>
              <p:ext uri="{D42A27DB-BD31-4B8C-83A1-F6EECF244321}">
                <p14:modId xmlns:p14="http://schemas.microsoft.com/office/powerpoint/2010/main" val="3691694241"/>
              </p:ext>
            </p:extLst>
          </p:nvPr>
        </p:nvGraphicFramePr>
        <p:xfrm>
          <a:off x="838200" y="1825625"/>
          <a:ext cx="10515600" cy="165100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1183787100"/>
                    </a:ext>
                  </a:extLst>
                </a:gridCol>
                <a:gridCol w="3505200">
                  <a:extLst>
                    <a:ext uri="{9D8B030D-6E8A-4147-A177-3AD203B41FA5}">
                      <a16:colId xmlns:a16="http://schemas.microsoft.com/office/drawing/2014/main" val="2600693345"/>
                    </a:ext>
                  </a:extLst>
                </a:gridCol>
                <a:gridCol w="3505200">
                  <a:extLst>
                    <a:ext uri="{9D8B030D-6E8A-4147-A177-3AD203B41FA5}">
                      <a16:colId xmlns:a16="http://schemas.microsoft.com/office/drawing/2014/main" val="293774605"/>
                    </a:ext>
                  </a:extLst>
                </a:gridCol>
              </a:tblGrid>
              <a:tr h="370840">
                <a:tc>
                  <a:txBody>
                    <a:bodyPr/>
                    <a:lstStyle/>
                    <a:p>
                      <a:r>
                        <a:rPr lang="en-US" dirty="0"/>
                        <a:t>Source Title</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Source Type</a:t>
                      </a:r>
                      <a:endParaRPr lang="en-GB" dirty="0"/>
                    </a:p>
                    <a:p>
                      <a:endParaRPr lang="en-GB" dirty="0"/>
                    </a:p>
                  </a:txBody>
                  <a:tcPr/>
                </a:tc>
                <a:tc>
                  <a:txBody>
                    <a:bodyPr/>
                    <a:lstStyle/>
                    <a:p>
                      <a:r>
                        <a:rPr lang="en-US" dirty="0"/>
                        <a:t>Author/Link</a:t>
                      </a:r>
                      <a:endParaRPr lang="en-GB" dirty="0"/>
                    </a:p>
                  </a:txBody>
                  <a:tcPr/>
                </a:tc>
                <a:extLst>
                  <a:ext uri="{0D108BD9-81ED-4DB2-BD59-A6C34878D82A}">
                    <a16:rowId xmlns:a16="http://schemas.microsoft.com/office/drawing/2014/main" val="2507128045"/>
                  </a:ext>
                </a:extLst>
              </a:tr>
              <a:tr h="370840">
                <a:tc>
                  <a:txBody>
                    <a:bodyPr/>
                    <a:lstStyle/>
                    <a:p>
                      <a:r>
                        <a:rPr lang="en-US" dirty="0" err="1"/>
                        <a:t>Sahistory</a:t>
                      </a:r>
                      <a:endParaRPr lang="en-GB" dirty="0"/>
                    </a:p>
                  </a:txBody>
                  <a:tcPr/>
                </a:tc>
                <a:tc>
                  <a:txBody>
                    <a:bodyPr/>
                    <a:lstStyle/>
                    <a:p>
                      <a:r>
                        <a:rPr lang="en-US" dirty="0"/>
                        <a:t>Website</a:t>
                      </a:r>
                      <a:endParaRPr lang="en-GB" dirty="0"/>
                    </a:p>
                  </a:txBody>
                  <a:tcPr/>
                </a:tc>
                <a:tc>
                  <a:txBody>
                    <a:bodyPr/>
                    <a:lstStyle/>
                    <a:p>
                      <a:r>
                        <a:rPr lang="en-GB" dirty="0"/>
                        <a:t>https://sahistory.org.za/article/way-life-ancient-egypt</a:t>
                      </a:r>
                    </a:p>
                  </a:txBody>
                  <a:tcPr/>
                </a:tc>
                <a:extLst>
                  <a:ext uri="{0D108BD9-81ED-4DB2-BD59-A6C34878D82A}">
                    <a16:rowId xmlns:a16="http://schemas.microsoft.com/office/drawing/2014/main" val="3221054683"/>
                  </a:ext>
                </a:extLst>
              </a:tr>
              <a:tr h="370840">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730417240"/>
                  </a:ext>
                </a:extLst>
              </a:tr>
            </a:tbl>
          </a:graphicData>
        </a:graphic>
      </p:graphicFrame>
    </p:spTree>
    <p:extLst>
      <p:ext uri="{BB962C8B-B14F-4D97-AF65-F5344CB8AC3E}">
        <p14:creationId xmlns:p14="http://schemas.microsoft.com/office/powerpoint/2010/main" val="208030899"/>
      </p:ext>
    </p:extLst>
  </p:cSld>
  <p:clrMapOvr>
    <a:masterClrMapping/>
  </p:clrMapOvr>
</p:sld>
</file>

<file path=ppt/theme/theme1.xml><?xml version="1.0" encoding="utf-8"?>
<a:theme xmlns:a="http://schemas.openxmlformats.org/drawingml/2006/main" name="Office Theme">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412</TotalTime>
  <Words>429</Words>
  <Application>Microsoft Office PowerPoint</Application>
  <PresentationFormat>Widescreen</PresentationFormat>
  <Paragraphs>36</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Ancient Egyptian Hieroglyphs</vt:lpstr>
      <vt:lpstr>Arial</vt:lpstr>
      <vt:lpstr>Bahnschrift SemiLight</vt:lpstr>
      <vt:lpstr>Calibri</vt:lpstr>
      <vt:lpstr>Calibri Light</vt:lpstr>
      <vt:lpstr>Papyrus</vt:lpstr>
      <vt:lpstr>Office Theme</vt:lpstr>
      <vt:lpstr>ANCIENT EGYPT</vt:lpstr>
      <vt:lpstr>PowerPoint Presentation</vt:lpstr>
      <vt:lpstr>Research</vt:lpstr>
      <vt:lpstr>Lifestyle </vt:lpstr>
      <vt:lpstr>PowerPoint Presentation</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Phenyo Phakedi</dc:title>
  <dc:creator>Phenyo Phakedi</dc:creator>
  <cp:lastModifiedBy>Phenyo Phakedi</cp:lastModifiedBy>
  <cp:revision>28</cp:revision>
  <dcterms:created xsi:type="dcterms:W3CDTF">2025-06-11T08:51:10Z</dcterms:created>
  <dcterms:modified xsi:type="dcterms:W3CDTF">2026-06-26T01:09:12Z</dcterms:modified>
</cp:coreProperties>
</file>